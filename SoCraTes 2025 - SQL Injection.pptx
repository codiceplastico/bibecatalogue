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7"/>
  </p:notesMasterIdLst>
  <p:sldIdLst>
    <p:sldId id="256" r:id="rId2"/>
    <p:sldId id="257" r:id="rId3"/>
    <p:sldId id="259" r:id="rId4"/>
    <p:sldId id="265" r:id="rId5"/>
    <p:sldId id="268" r:id="rId6"/>
    <p:sldId id="266" r:id="rId7"/>
    <p:sldId id="269" r:id="rId8"/>
    <p:sldId id="270" r:id="rId9"/>
    <p:sldId id="272" r:id="rId10"/>
    <p:sldId id="273" r:id="rId11"/>
    <p:sldId id="274" r:id="rId12"/>
    <p:sldId id="276" r:id="rId13"/>
    <p:sldId id="277" r:id="rId14"/>
    <p:sldId id="258" r:id="rId15"/>
    <p:sldId id="264" r:id="rId16"/>
  </p:sldIdLst>
  <p:sldSz cx="9144000" cy="5143500" type="screen16x9"/>
  <p:notesSz cx="6858000" cy="9144000"/>
  <p:embeddedFontLst>
    <p:embeddedFont>
      <p:font typeface="Anonymous Pro" panose="020B0604020202020204" charset="0"/>
      <p:regular r:id="rId18"/>
      <p:bold r:id="rId19"/>
      <p:italic r:id="rId20"/>
      <p:boldItalic r:id="rId21"/>
    </p:embeddedFont>
    <p:embeddedFont>
      <p:font typeface="Barlow Condensed" panose="00000506000000000000" pitchFamily="2" charset="0"/>
      <p:regular r:id="rId22"/>
      <p:bold r:id="rId23"/>
      <p:italic r:id="rId24"/>
      <p:boldItalic r:id="rId25"/>
    </p:embeddedFont>
    <p:embeddedFont>
      <p:font typeface="Barlow Condensed Light" panose="00000406000000000000" pitchFamily="2" charset="0"/>
      <p:regular r:id="rId26"/>
      <p:bold r:id="rId27"/>
      <p:italic r:id="rId28"/>
      <p:boldItalic r:id="rId29"/>
    </p:embeddedFont>
    <p:embeddedFont>
      <p:font typeface="Barlow Condensed Medium" panose="00000606000000000000" pitchFamily="2" charset="0"/>
      <p:regular r:id="rId30"/>
      <p:bold r:id="rId31"/>
      <p:italic r:id="rId32"/>
      <p:boldItalic r:id="rId33"/>
    </p:embeddedFont>
    <p:embeddedFont>
      <p:font typeface="Barlow Condensed SemiBold" panose="00000706000000000000" pitchFamily="2" charset="0"/>
      <p:regular r:id="rId34"/>
      <p:bold r:id="rId35"/>
      <p:italic r:id="rId36"/>
      <p:boldItalic r:id="rId37"/>
    </p:embeddedFont>
    <p:embeddedFont>
      <p:font typeface="Comic Mono" pitchFamily="1" charset="0"/>
      <p:regular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presProps" Target="pres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d28ddab77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d28ddab77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446B246-DDC7-1232-A493-5B351CB4B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CF93CBD1-EAA3-E86F-C282-CF8E28C753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4A3F9AB-99B1-6993-D869-91512D54CA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2676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2D63D99-B6A4-5BF0-6B1C-3E3FBCEB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C340010-43FA-F787-50BD-AB746373DC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09E7A92-5FFF-E6CC-B5EF-E2E01FD9DF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57886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66B2EE2A-2124-2E18-4598-603CBCEB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B20E22D-A900-F2B9-C76C-309BF5F1D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A1860A-8401-80EC-B8C6-6461FB8178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56134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solidFill>
                  <a:srgbClr val="000000"/>
                </a:solidFill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SQL Injection</a:t>
            </a:r>
            <a:endParaRPr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CodicePlastico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Rimini, 3 ottobre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9"/>
          <p:cNvSpPr txBox="1">
            <a:spLocks noGrp="1"/>
          </p:cNvSpPr>
          <p:nvPr>
            <p:ph type="body" idx="1"/>
          </p:nvPr>
        </p:nvSpPr>
        <p:spPr>
          <a:xfrm>
            <a:off x="1188900" y="985975"/>
            <a:ext cx="6766200" cy="10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solidFill>
                  <a:srgbClr val="111D24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Sono Alberto, </a:t>
            </a:r>
            <a:r>
              <a:rPr lang="en" sz="3100">
                <a:solidFill>
                  <a:srgbClr val="D93232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piacere!</a:t>
            </a:r>
            <a:endParaRPr sz="3100">
              <a:solidFill>
                <a:srgbClr val="D93232"/>
              </a:solidFill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3100">
              <a:solidFill>
                <a:srgbClr val="D93232"/>
              </a:solidFill>
              <a:latin typeface="Barlow Condensed Light"/>
              <a:ea typeface="Barlow Condensed Light"/>
              <a:cs typeface="Barlow Condensed Light"/>
              <a:sym typeface="Barlow Condensed Light"/>
            </a:endParaRPr>
          </a:p>
        </p:txBody>
      </p:sp>
      <p:sp>
        <p:nvSpPr>
          <p:cNvPr id="112" name="Google Shape;112;p29"/>
          <p:cNvSpPr txBox="1"/>
          <p:nvPr/>
        </p:nvSpPr>
        <p:spPr>
          <a:xfrm>
            <a:off x="3707550" y="3066800"/>
            <a:ext cx="17289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Condensed"/>
                <a:ea typeface="Barlow Condensed"/>
                <a:cs typeface="Barlow Condensed"/>
                <a:sym typeface="Barlow Condensed"/>
              </a:rPr>
              <a:t>50% Sviluppatore SQL </a:t>
            </a: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Condensed"/>
                <a:ea typeface="Barlow Condensed"/>
                <a:cs typeface="Barlow Condensed"/>
                <a:sym typeface="Barlow Condensed"/>
              </a:rPr>
              <a:t>50% Homebrewer</a:t>
            </a: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Condensed"/>
                <a:ea typeface="Barlow Condensed"/>
                <a:cs typeface="Barlow Condensed"/>
                <a:sym typeface="Barlow Condensed"/>
              </a:rPr>
              <a:t>50% Esperto di statistica</a:t>
            </a: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113" name="Google Shape;113;p29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9863" y="1738397"/>
            <a:ext cx="1324270" cy="12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9" title="perplex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4213" y="3490025"/>
            <a:ext cx="360875" cy="36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/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Username = ‘</a:t>
            </a:r>
            <a:r>
              <a:rPr lang="en-US" sz="1600" dirty="0" err="1">
                <a:latin typeface="Comic Mono" pitchFamily="1" charset="0"/>
              </a:rPr>
              <a:t>testuser</a:t>
            </a:r>
            <a:r>
              <a:rPr lang="en-US" sz="1600" dirty="0">
                <a:latin typeface="Comic Mono" pitchFamily="1" charset="0"/>
              </a:rPr>
              <a:t>’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‘</a:t>
            </a:r>
            <a:r>
              <a:rPr lang="en-US" sz="1600" dirty="0" err="1">
                <a:latin typeface="Comic Mono" pitchFamily="1" charset="0"/>
              </a:rPr>
              <a:t>testpassword</a:t>
            </a:r>
            <a:r>
              <a:rPr lang="en-US" sz="1600" dirty="0">
                <a:latin typeface="Comic Mono" pitchFamily="1" charset="0"/>
              </a:rPr>
              <a:t>’;</a:t>
            </a:r>
            <a:endParaRPr sz="1600" dirty="0"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Meglio: </a:t>
            </a:r>
            <a:r>
              <a:rPr lang="en-US" dirty="0" err="1"/>
              <a:t>una</a:t>
            </a:r>
            <a:r>
              <a:rPr lang="en-US" dirty="0"/>
              <a:t>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 err="1"/>
              <a:t>Lettere</a:t>
            </a:r>
            <a:r>
              <a:rPr lang="en-US" sz="1600" dirty="0"/>
              <a:t> </a:t>
            </a:r>
            <a:r>
              <a:rPr lang="en-US" sz="1600" dirty="0" err="1"/>
              <a:t>minuscole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</a:t>
            </a:r>
            <a:br>
              <a:rPr lang="en-US" sz="1600" dirty="0"/>
            </a:br>
            <a:r>
              <a:rPr lang="en-US" sz="1600" dirty="0"/>
              <a:t>			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‘ OR ‘a1’ = ‘a1</a:t>
            </a: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Username = ‘</a:t>
            </a:r>
            <a:r>
              <a:rPr lang="en-US" sz="1600" dirty="0" err="1">
                <a:latin typeface="Comic Mono" pitchFamily="1" charset="0"/>
              </a:rPr>
              <a:t>testuser</a:t>
            </a:r>
            <a:r>
              <a:rPr lang="en-US" sz="1600" dirty="0">
                <a:latin typeface="Comic Mono" pitchFamily="1" charset="0"/>
              </a:rPr>
              <a:t>’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‘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’ OR ‘a1’ = ‘a1</a:t>
            </a:r>
            <a:r>
              <a:rPr lang="en-US" sz="1600" dirty="0">
                <a:latin typeface="Comic Mono" pitchFamily="1" charset="0"/>
              </a:rPr>
              <a:t>’;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D5526D9-5742-D200-6B3B-A32F00BE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C44BA00-2477-7776-957D-BACCC5B049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GRAN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4DAED3D2-B059-E84F-199C-B14D40191A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E78ACA2-9C6B-93DB-65AB-03207AC10BA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Username = ‘</a:t>
            </a:r>
            <a:r>
              <a:rPr lang="en-US" sz="1600" dirty="0" err="1">
                <a:latin typeface="Comic Mono" pitchFamily="1" charset="0"/>
              </a:rPr>
              <a:t>testuser</a:t>
            </a:r>
            <a:r>
              <a:rPr lang="en-US" sz="1600" dirty="0">
                <a:latin typeface="Comic Mono" pitchFamily="1" charset="0"/>
              </a:rPr>
              <a:t>’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‘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’ OR ‘a1’ = ‘a1’;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Password) VALUES (‘pippo@disney.com’, ‘clarabella’); --</a:t>
            </a:r>
            <a:r>
              <a:rPr lang="en-US" sz="1600" dirty="0">
                <a:latin typeface="Comic Mono" pitchFamily="1" charset="0"/>
              </a:rPr>
              <a:t>’;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619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 UNION ALL SELECT NULL, CONCAT(S.name, ‘.’, T.name, ‘.’,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‘pippo@disney.com’)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‘pippo@disney.com’);--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7251E2D-B03C-C34E-5B7B-65E9DCE81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D71DF1E-E4B6-0505-033D-0B4B5CEE94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B47F812-6A46-0E98-23B9-DBE8856EC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811E23C-2978-F612-C2DF-7980B457020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‘pippo@disney.com’;--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991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36EE322-A662-0371-75C9-16633F3B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95004AB-5ED0-C943-CF67-C80F05E440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151D6E-FC87-00EA-80CB-57DEC847F6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FA65E0F-0774-800E-AE39-63360B05388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1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‘%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 UNION ALL SELECT NULL, CONCAT(S.name, ‘.’, T.name, ‘.’, C.name), NULL, NULL, NULL, NULL FROM AdventureWorks2022.sys.columns C INNER JOIN AdventureWorks2022.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AdventureWorks2022.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%’ ORDER BY </a:t>
            </a:r>
            <a:r>
              <a:rPr lang="en-US" sz="1400" dirty="0" err="1">
                <a:latin typeface="Comic Mono" pitchFamily="1" charset="0"/>
              </a:rPr>
              <a:t>CourseStartDate</a:t>
            </a:r>
            <a:r>
              <a:rPr lang="en-US" sz="1400" dirty="0">
                <a:latin typeface="Comic Mono" pitchFamily="1" charset="0"/>
              </a:rPr>
              <a:t>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731</Words>
  <Application>Microsoft Office PowerPoint</Application>
  <PresentationFormat>On-screen Show (16:9)</PresentationFormat>
  <Paragraphs>38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Barlow Condensed SemiBold</vt:lpstr>
      <vt:lpstr>Anonymous Pro</vt:lpstr>
      <vt:lpstr>Barlow Condensed Light</vt:lpstr>
      <vt:lpstr>Arial</vt:lpstr>
      <vt:lpstr>Barlow Condensed</vt:lpstr>
      <vt:lpstr>Barlow Condensed Medium</vt:lpstr>
      <vt:lpstr>Comic Mono</vt:lpstr>
      <vt:lpstr>Simple Light</vt:lpstr>
      <vt:lpstr>SQL Injection</vt:lpstr>
      <vt:lpstr>PowerPoint Presentation</vt:lpstr>
      <vt:lpstr>Una query semplice che non farò mai più</vt:lpstr>
      <vt:lpstr>Meglio: una query semplice che non implementerò mai più così</vt:lpstr>
      <vt:lpstr>Una buona password…</vt:lpstr>
      <vt:lpstr>Una buona password…</vt:lpstr>
      <vt:lpstr>Una GRAN buona password…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Bobby Tables (xkcd.com #327)</vt:lpstr>
      <vt:lpstr>Grazie!  https://github.com/CodicePlastico/BibeCatalogue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Alberto Turelli</cp:lastModifiedBy>
  <cp:revision>3</cp:revision>
  <dcterms:modified xsi:type="dcterms:W3CDTF">2025-10-03T03:20:56Z</dcterms:modified>
</cp:coreProperties>
</file>