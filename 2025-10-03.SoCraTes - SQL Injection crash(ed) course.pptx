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7"/>
  </p:notesMasterIdLst>
  <p:sldIdLst>
    <p:sldId id="256" r:id="rId2"/>
    <p:sldId id="259" r:id="rId3"/>
    <p:sldId id="265" r:id="rId4"/>
    <p:sldId id="268" r:id="rId5"/>
    <p:sldId id="288" r:id="rId6"/>
    <p:sldId id="266" r:id="rId7"/>
    <p:sldId id="270" r:id="rId8"/>
    <p:sldId id="287" r:id="rId9"/>
    <p:sldId id="286" r:id="rId10"/>
    <p:sldId id="284" r:id="rId11"/>
    <p:sldId id="283" r:id="rId12"/>
    <p:sldId id="269" r:id="rId13"/>
    <p:sldId id="272" r:id="rId14"/>
    <p:sldId id="278" r:id="rId15"/>
    <p:sldId id="276" r:id="rId16"/>
    <p:sldId id="277" r:id="rId17"/>
    <p:sldId id="280" r:id="rId18"/>
    <p:sldId id="279" r:id="rId19"/>
    <p:sldId id="281" r:id="rId20"/>
    <p:sldId id="282" r:id="rId21"/>
    <p:sldId id="258" r:id="rId22"/>
    <p:sldId id="273" r:id="rId23"/>
    <p:sldId id="274" r:id="rId24"/>
    <p:sldId id="285" r:id="rId25"/>
    <p:sldId id="264" r:id="rId26"/>
  </p:sldIdLst>
  <p:sldSz cx="9144000" cy="5143500" type="screen16x9"/>
  <p:notesSz cx="6858000" cy="9144000"/>
  <p:embeddedFontLst>
    <p:embeddedFont>
      <p:font typeface="Anonymous Pro" panose="020B0604020202020204" charset="0"/>
      <p:regular r:id="rId28"/>
      <p:bold r:id="rId29"/>
      <p:italic r:id="rId30"/>
      <p:boldItalic r:id="rId31"/>
    </p:embeddedFont>
    <p:embeddedFont>
      <p:font typeface="Barlow Condensed" panose="00000506000000000000" pitchFamily="2" charset="0"/>
      <p:regular r:id="rId32"/>
      <p:bold r:id="rId33"/>
      <p:italic r:id="rId34"/>
      <p:boldItalic r:id="rId35"/>
    </p:embeddedFont>
    <p:embeddedFont>
      <p:font typeface="Barlow Condensed Light" panose="00000406000000000000" pitchFamily="2" charset="0"/>
      <p:regular r:id="rId36"/>
      <p:bold r:id="rId37"/>
      <p:italic r:id="rId38"/>
      <p:boldItalic r:id="rId39"/>
    </p:embeddedFont>
    <p:embeddedFont>
      <p:font typeface="Barlow Condensed Medium" panose="00000606000000000000" pitchFamily="2" charset="0"/>
      <p:regular r:id="rId40"/>
      <p:bold r:id="rId41"/>
      <p:italic r:id="rId42"/>
      <p:boldItalic r:id="rId43"/>
    </p:embeddedFont>
    <p:embeddedFont>
      <p:font typeface="Barlow Condensed SemiBold" panose="00000706000000000000" pitchFamily="2" charset="0"/>
      <p:regular r:id="rId44"/>
      <p:bold r:id="rId45"/>
      <p:italic r:id="rId46"/>
      <p:boldItalic r:id="rId47"/>
    </p:embeddedFont>
    <p:embeddedFont>
      <p:font typeface="Comic Mono" pitchFamily="1" charset="0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f040042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f040042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9579A3-9E25-EE16-AB8A-6494447E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9718913-2AEA-DC73-EE95-7302BC243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7EEECA4-5D38-72C4-EA76-027493BA1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61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F8CAE03-FC1F-5A79-9952-A13E5BEC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6FEF7D9C-609A-E977-D671-DDFC4061E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E6F24BB1-1249-AF5C-BE4B-0576AA7E0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66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AB735B9-722E-9F14-C5C7-DC5F4484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21992D1-65FF-AB13-ABAC-D9853EAE3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6C1927-1CA5-DCE8-20A7-99F5523C9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8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C6FDCEB-FC6F-A34B-6210-DA3CD00D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E077C32-1645-F2DB-8A11-ADFD7D4FD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7571799-A6BC-0095-E9D6-4916D178A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31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E6D14E8-39C7-7811-2630-A65BB730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63E8969-94E5-9EE8-D9F1-57985E911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6AD4B74C-710F-861F-A3B9-C1F6D8D1E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848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BB6766B-D3A5-A25A-2B1A-A687858E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DE75F54-9DB9-75E5-D36F-6E04BAED3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B5FBC3C-5CCB-791F-CF74-30BDFB1E0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706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7702CEBB-D719-AE3F-4687-A4E1409F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6CBFF0F-5A65-49A6-D79F-0F42EE056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F6DB8A2B-598F-A5F2-4E09-0F6E6B731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618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6D16024-57EA-1034-FD04-BFDE48BD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97D5F10E-081F-12A3-04CE-EEFBDF13A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22450AB-4AC2-721F-3BA0-7CCAA8B21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255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446B246-DDC7-1232-A493-5B351CB4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CF93CBD1-EAA3-E86F-C282-CF8E28C75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4A3F9AB-99B1-6993-D869-91512D54C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267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829F1C9-8C22-D6DE-690A-9F18ADE3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50F100B-6885-27FD-6CF7-D3DCB2C34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A8A83F4-CF4E-E195-5A9A-A7B4DEEF1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853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A8E1991-5385-EE36-F31F-45C59D48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85797D6-28BD-82E2-BB85-B7AA0A313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F378A8D-4710-B732-5B07-CFA0DC769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0113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66B2EE2A-2124-2E18-4598-603CBCEB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0B20E22D-A900-F2B9-C76C-309BF5F1D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8FA1860A-8401-80EC-B8C6-6461FB817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6134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54C4433-D5E5-6BCB-B51E-A3330E66D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E35F1BC-9EFE-B563-DF19-909C51510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C0999D-5181-DA7F-3E8B-FC9E22BF0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437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361CE7E-3A7D-5CD3-2AE4-A63D5D8A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F4B17EF-4E5E-ED52-5A87-7952FFB10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3F3AE62-4DDA-1795-F2B5-D0EEF41A7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7627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E7B06D-B718-BF77-83E2-4ACDB6AB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E793C01-C29A-3036-8AB0-9BF3BAA84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EF3FBB7-B6C8-90B7-B4DA-37D40D041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133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E539B51-AFD4-628B-6995-2E1DA878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782C1F0-FE1F-4249-B1B2-178391995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8F27C02C-08EF-3B0E-9C79-FF12C3171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6846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95D62CE-E835-9D12-D443-028D6189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D889F51-D780-4B76-EB59-9E3310EF4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A020F66-2B27-6920-49D9-2E98314C5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3038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7C6A6AF-A01B-5E3B-F81B-949E028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1C16E44-6EC6-B33F-A02B-CB02C3AE3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F8F337-7DE1-1854-0BAF-C04706A91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877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2D63D99-B6A4-5BF0-6B1C-3E3FBCEB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7C340010-43FA-F787-50BD-AB746373D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F09E7A92-5FFF-E6CC-B5EF-E2E01FD9D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788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987C4B5-9791-F752-496A-FC6655DF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8B663E6-E656-660B-6988-A6EBAEC02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22D83DA-FB1B-9827-9253-8F7E2FECC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1852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d4d7e4f0f_5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d4d7e4f0f_5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" type="title">
  <p:cSld name="TITLE">
    <p:bg>
      <p:bgPr>
        <a:solidFill>
          <a:srgbClr val="D9323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Light"/>
              <a:buNone/>
              <a:defRPr sz="1600"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04950" y="1063225"/>
            <a:ext cx="2392550" cy="2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 Chiusura">
  <p:cSld name="TITLE_1">
    <p:bg>
      <p:bgPr>
        <a:solidFill>
          <a:srgbClr val="D9323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0" y="2894224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Condensed SemiBold"/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0075" y="1257757"/>
            <a:ext cx="2392550" cy="204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4171000" y="4521000"/>
            <a:ext cx="802000" cy="145825"/>
            <a:chOff x="4171000" y="4521000"/>
            <a:chExt cx="802000" cy="145825"/>
          </a:xfrm>
        </p:grpSpPr>
        <p:pic>
          <p:nvPicPr>
            <p:cNvPr id="18" name="Google Shape;1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71000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89727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08455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27182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4136850" y="4136800"/>
            <a:ext cx="870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Condensed"/>
                <a:ea typeface="Barlow Condensed"/>
                <a:cs typeface="Barlow Condensed"/>
                <a:sym typeface="Barlow Condensed"/>
              </a:rPr>
              <a:t>FOLLOW US</a:t>
            </a:r>
            <a:endParaRPr sz="12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2 righe" type="secHead">
  <p:cSld name="SECTION_HEADER">
    <p:bg>
      <p:bgPr>
        <a:solidFill>
          <a:srgbClr val="111D24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504300" y="3194775"/>
            <a:ext cx="81354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1 riga">
  <p:cSld name="SECTION_HEADER_2">
    <p:bg>
      <p:bgPr>
        <a:solidFill>
          <a:srgbClr val="111D24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 for Feedback">
  <p:cSld name="SECTION_HEADER_1">
    <p:bg>
      <p:bgPr>
        <a:solidFill>
          <a:srgbClr val="D9323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48625" y="2645775"/>
            <a:ext cx="85206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etails">
  <p:cSld name="TITLE_ONLY_1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 idx="2"/>
          </p:nvPr>
        </p:nvSpPr>
        <p:spPr>
          <a:xfrm>
            <a:off x="311700" y="1201500"/>
            <a:ext cx="8520600" cy="3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code">
  <p:cSld name="TITLE_ONLY_1_1">
    <p:bg>
      <p:bgPr>
        <a:solidFill>
          <a:srgbClr val="111D24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title" idx="2"/>
          </p:nvPr>
        </p:nvSpPr>
        <p:spPr>
          <a:xfrm>
            <a:off x="311700" y="1870387"/>
            <a:ext cx="8520600" cy="31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nonymous Pro"/>
              <a:buNone/>
              <a:defRPr sz="16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311700" y="1473312"/>
            <a:ext cx="8433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">
  <p:cSld name="BLANK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title" idx="2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BLANK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>
            <a:spLocks noGrp="1"/>
          </p:cNvSpPr>
          <p:nvPr>
            <p:ph type="title" idx="2"/>
          </p:nvPr>
        </p:nvSpPr>
        <p:spPr>
          <a:xfrm>
            <a:off x="1637250" y="2374950"/>
            <a:ext cx="57738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 idx="3"/>
          </p:nvPr>
        </p:nvSpPr>
        <p:spPr>
          <a:xfrm>
            <a:off x="1637250" y="2902375"/>
            <a:ext cx="57738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zione business - cover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673550" y="1997225"/>
            <a:ext cx="612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1673550" y="2769797"/>
            <a:ext cx="58518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 - 2">
  <p:cSld name="CUSTOM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64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-2">
  <p:cSld name="CUSTOM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4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6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8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9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 1">
  <p:cSld name="CUSTOM_9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10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Medium"/>
              <a:buNone/>
              <a:defRPr sz="2800">
                <a:solidFill>
                  <a:schemeClr val="dk1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800"/>
              <a:buFont typeface="Barlow Condensed"/>
              <a:buChar char="●"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icePlastico/BibeCatalogu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SQL Injection crash(ed) course</a:t>
            </a:r>
            <a:endParaRPr dirty="0"/>
          </a:p>
        </p:txBody>
      </p:sp>
      <p:sp>
        <p:nvSpPr>
          <p:cNvPr id="106" name="Google Shape;106;p28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Alberto Turelli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CodicePlastico</a:t>
            </a: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Rimini, 3 ottobre 2025</a:t>
            </a:r>
            <a:endParaRPr i="1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semplice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farò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endParaRPr dirty="0"/>
          </a:p>
        </p:txBody>
      </p:sp>
      <p:pic>
        <p:nvPicPr>
          <p:cNvPr id="129" name="Google Shape;1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/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'password123';</a:t>
            </a:r>
            <a:endParaRPr sz="1600" dirty="0"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AB92EA55-9502-DAD9-9352-36007BE9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E1604AF-E6B1-22C1-EC71-6D0AADFE4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Meglio: </a:t>
            </a:r>
            <a:r>
              <a:rPr lang="en-US" dirty="0" err="1"/>
              <a:t>una</a:t>
            </a:r>
            <a:r>
              <a:rPr lang="en-US" dirty="0"/>
              <a:t> query semplice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D52658B-8CF4-C97A-3A78-FF98F2D479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EFD27-9359-5E97-019F-99A6B00E7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361" y="2464700"/>
            <a:ext cx="3849278" cy="17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9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/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endParaRPr sz="1600" dirty="0">
              <a:solidFill>
                <a:srgbClr val="FF0000"/>
              </a:solidFill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C34B15A-F317-C316-64C3-D9EE5FAA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C23C0CFA-5540-B710-5F82-5A75D0F13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7CE21CCC-1155-3405-E6BA-06FA67896E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>
            <a:extLst>
              <a:ext uri="{FF2B5EF4-FFF2-40B4-BE49-F238E27FC236}">
                <a16:creationId xmlns:a16="http://schemas.microsoft.com/office/drawing/2014/main" id="{6C8A3B44-716F-09C2-B8DB-58F9FB0F0B4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Ci </a:t>
            </a:r>
            <a:r>
              <a:rPr lang="en-US" sz="1600" dirty="0" err="1"/>
              <a:t>sono</a:t>
            </a:r>
            <a:r>
              <a:rPr lang="en-US" sz="1600" dirty="0"/>
              <a:t>!</a:t>
            </a:r>
            <a:br>
              <a:rPr lang="en-US" sz="1600" dirty="0"/>
            </a:br>
            <a:r>
              <a:rPr lang="en-US" sz="1600" dirty="0"/>
              <a:t>			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' OR 'a1'='a1</a:t>
            </a:r>
            <a:endParaRPr sz="1600" dirty="0">
              <a:solidFill>
                <a:srgbClr val="FF0000"/>
              </a:solidFill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2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5BF998F-C01B-D030-A01B-0E38EFA5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F49611F-FCAC-62B7-A7D6-A097FEB6A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buona password…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591402D-86A8-90E7-DE16-9C39D5043F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E26F98C-8BB1-0BAD-0B79-B77710E12A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6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BE1A6B1-E094-ED9C-B061-FE8E89F1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505E075-430E-A8EC-14B6-1C5F76690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60C50FD-8700-3126-FC8E-3F86DA5223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9DB0031-BA3C-50E3-1199-90EDC42C10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@@VERSION, NULL, NULL, NULL, NULL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8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FF40531-5418-D238-DA56-5FBD9EE74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7786EA0-FB50-F4E4-40B4-ED11F90D9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A85D4787-33B1-E75D-99CB-1D54A1200C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2A16D06-AE54-6BF4-ADE9-45C93D634A3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sys.columns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sys.tables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sys.schemas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615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A83D64F-17F5-E9D6-41B9-FA15B1CE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95BD0FD-4C79-1774-8867-3624FB85B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E02F20C-6A13-65F6-8385-77A7E5DFBD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5968E61-690C-1F5F-7CE1-A222F3C4A2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VERSION(), NULL, NULL, NULL, NULL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00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29F90C1E-D30E-F4C0-A1D8-B6F60062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3093E38A-769C-ABEC-65B9-0739E426C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51444B20-591C-53CF-56FB-30B446DF99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A2401073-FB78-3332-A168-2AFD1937588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CONCAT(C.TABLE_SCHEMA, '.', C.TABLE_NAME, '.', C.COLUMN_NAME), NULL, NULL, NULL, NULL FROM INFORMATION_SCHEMA.COLUMNS C WHERE C.TABLE_SCHEMA &lt;&gt; N'INFORMATION_SCHEMA' ORDER BY C.TABLE_NAME, C.ORDINAL_POSITION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358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1BFF0C3-3F74-F29F-3C84-30C80F33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BCE8877-1789-401D-4C57-89BD6D1AE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9BDA5062-7C55-0620-9D10-A9A5014DEB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F8B238D-F1EE-13CD-4106-2743006F5D3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CONCAT(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U.Email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'/',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U.Password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U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138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D5526D9-5742-D200-6B3B-A32F00BE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C44BA00-2477-7776-957D-BACCC5B049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GRAN buona password…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4DAED3D2-B059-E84F-199C-B14D40191A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E78ACA2-9C6B-93DB-65AB-03207AC10BA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</a:t>
            </a:r>
            <a:r>
              <a:rPr lang="en-US" sz="1600" dirty="0" err="1">
                <a:latin typeface="Comic Mono" pitchFamily="1" charset="0"/>
              </a:rPr>
              <a:t>testuser</a:t>
            </a:r>
            <a:r>
              <a:rPr lang="en-US" sz="1600" dirty="0">
                <a:latin typeface="Comic Mono" pitchFamily="1" charset="0"/>
              </a:rPr>
              <a:t>’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('pippo@disney.com', 'clarabella', 'Pippo', 'De''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Pippis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');--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619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647F138-F553-A411-2A55-5FF99867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1F885EE-699A-FF18-A7CB-935398C12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B3FAB75-BBF2-E07A-7B3A-D7E6575D5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3669C20-83E0-43F2-A4D7-EA2D0F7ACC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DISTINCT 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28,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788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DBFA3DA-798F-1FB8-B8D9-01B1F3B1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5209672-7197-9AAA-4D16-02CEB0E6F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EEC1706-6143-67D6-A693-C6B1B4B289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4CC5F0-533F-387D-9F58-766257A194E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'Corso di tango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acrobatico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CAST(CURRENT_TIMESTAMP AS DATE), CAST(CURRENT_TIMESTAMP AS DATE), 30,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99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36EE322-A662-0371-75C9-16633F3B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195004AB-5ED0-C943-CF67-C80F05E44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1151D6E-FC87-00EA-80CB-57DEC847F6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EFA65E0F-0774-800E-AE39-63360B05388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D.name,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sys.databases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D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117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1095034-4560-3853-6547-41BB28E3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1739FE4-3F2A-9890-D33A-084851C74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223A1C8-4328-3852-F322-6FB4778D3E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D732024A-DAC3-9C13-6056-83EE77BB551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AdventureWorks2022.sys.columns C INNER JOIN AdventureWorks2022.sys.tables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AdventureWorks2022.sys.schemas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80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78DFD79-353B-62CC-0721-736AA8D7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ABA63F9-EADA-F26D-1300-881CF1B32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5206626-351C-3A23-FCD4-29CD94D8DA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3D1D32-4C31-5793-A659-D290C9691A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'show advanced options', 1; RECONFIGURE;--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825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C71E470-D6EC-3F1B-75EB-49C445D1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9FBC31F4-831A-CCF6-22E2-1971C95D35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05C9C47-7F7E-3FB4-447C-309D741D38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5EBA2D4-44EB-7EC5-EC44-1F8A88BED2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CONCAT(C.name, ': ', COALESCE(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C.value_in_use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sys.configuration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866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D52707C-C69C-0C47-787F-092BDD39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71C7CE0-1E80-6E92-9828-F6DD884491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C52DF68-7BAD-1806-AD32-BBD0810BA6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0D300D4-D224-B140-CCFE-259E013E02D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1; RECONFIGURE;--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52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A760962-B4C4-70C0-2A14-F3D81FD9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511F848-0D52-125A-D156-CEC5D0BB2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B3EBF6ED-7CE5-544D-0879-956B7F72DD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B342687-4343-22E3-B13A-A74F905FA6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master..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'format D: \q \u', NO_OUTPUT;--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999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288581" y="1497613"/>
            <a:ext cx="4566836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Bobby Tables (xkcd.com #327)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0"/>
          <p:cNvSpPr txBox="1"/>
          <p:nvPr/>
        </p:nvSpPr>
        <p:spPr>
          <a:xfrm>
            <a:off x="1311750" y="2070313"/>
            <a:ext cx="6520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Molto più di una textbox</a:t>
            </a:r>
            <a:endParaRPr sz="1100" dirty="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3" name="Picture 2" descr="A cartoon of two people&#10;&#10;AI-generated content may be incorrect.">
            <a:extLst>
              <a:ext uri="{FF2B5EF4-FFF2-40B4-BE49-F238E27FC236}">
                <a16:creationId xmlns:a16="http://schemas.microsoft.com/office/drawing/2014/main" id="{74250F4B-E526-08C0-F935-DD5E12CE8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51" y="2432471"/>
            <a:ext cx="5955097" cy="18348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FC4F3D9-4C60-3D2D-5635-53F8E82B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49DB303-33EA-2975-5CBD-8F7C630A9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28B8EFA-2249-C665-5F5C-FDC45E80FD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D4D5A63-6896-0F75-994E-CAA72275A3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77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7251E2D-B03C-C34E-5B7B-65E9DCE8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D71DF1E-E4B6-0505-033D-0B4B5CEE9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B47F812-6A46-0E98-23B9-DBE8856ECD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811E23C-2978-F612-C2DF-7980B457020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‘%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'pippo@disney.com';--</a:t>
            </a:r>
            <a:r>
              <a:rPr lang="en-US" sz="1400" dirty="0">
                <a:latin typeface="Comic Mono" pitchFamily="1" charset="0"/>
              </a:rPr>
              <a:t>%’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991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DCF0E6B-8D63-563B-DC82-D5B8ACDC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50D4FA1-0367-8DEC-38C0-F4BADFC40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semplice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1906B54-350C-2399-C432-2B0EC9A07C8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C90AEC-DBB7-DB6F-FEF1-8892A7B32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53" y="2421134"/>
            <a:ext cx="6715693" cy="179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4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323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ctrTitle"/>
          </p:nvPr>
        </p:nvSpPr>
        <p:spPr>
          <a:xfrm>
            <a:off x="311700" y="2894226"/>
            <a:ext cx="8520600" cy="119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Grazie!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chemeClr val="hlink"/>
                </a:solidFill>
                <a:hlinkClick r:id="rId3"/>
              </a:rPr>
              <a:t>https://github.com/CodicePlastico/BibeCatalogue</a:t>
            </a:r>
            <a:endParaRPr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1382</Words>
  <Application>Microsoft Office PowerPoint</Application>
  <PresentationFormat>On-screen Show (16:9)</PresentationFormat>
  <Paragraphs>58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Barlow Condensed Medium</vt:lpstr>
      <vt:lpstr>Comic Mono</vt:lpstr>
      <vt:lpstr>Anonymous Pro</vt:lpstr>
      <vt:lpstr>Barlow Condensed</vt:lpstr>
      <vt:lpstr>Arial</vt:lpstr>
      <vt:lpstr>Barlow Condensed Light</vt:lpstr>
      <vt:lpstr>Barlow Condensed SemiBold</vt:lpstr>
      <vt:lpstr>Simple Light</vt:lpstr>
      <vt:lpstr>SQL Injection crash(ed) course</vt:lpstr>
      <vt:lpstr>Una query semplice che non farò mai più</vt:lpstr>
      <vt:lpstr>Meglio: una query semplice che non implementerò mai più così</vt:lpstr>
      <vt:lpstr>Una buona password…</vt:lpstr>
      <vt:lpstr>Una buona password…</vt:lpstr>
      <vt:lpstr>Una buona password…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Una GRAN buona password…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Stringhe di ricerca interessanti</vt:lpstr>
      <vt:lpstr>Bobby Tables (xkcd.com #327)</vt:lpstr>
      <vt:lpstr>Stringhe di ricerca interessanti</vt:lpstr>
      <vt:lpstr>Stringhe di ricerca interessanti</vt:lpstr>
      <vt:lpstr>Una query semplice che implementerò così</vt:lpstr>
      <vt:lpstr>Grazie!  https://github.com/CodicePlastico/BibeCatalogue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Alberto Turelli</cp:lastModifiedBy>
  <cp:revision>15</cp:revision>
  <dcterms:modified xsi:type="dcterms:W3CDTF">2025-10-03T15:10:32Z</dcterms:modified>
</cp:coreProperties>
</file>